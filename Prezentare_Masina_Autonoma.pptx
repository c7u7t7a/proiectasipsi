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66D"/>
    <a:srgbClr val="84C441"/>
    <a:srgbClr val="F3F2F4"/>
    <a:srgbClr val="ED2223"/>
    <a:srgbClr val="4064B8"/>
    <a:srgbClr val="5CA7C6"/>
    <a:srgbClr val="E3D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/>
    <p:restoredTop sz="86404"/>
  </p:normalViewPr>
  <p:slideViewPr>
    <p:cSldViewPr snapToGrid="0" snapToObjects="1">
      <p:cViewPr varScale="1">
        <p:scale>
          <a:sx n="95" d="100"/>
          <a:sy n="95" d="100"/>
        </p:scale>
        <p:origin x="1170" y="-2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C70F4-0E3D-4C46-AEF5-283819C1CBF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140C2-9B72-984F-8143-6813C441F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1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140C2-9B72-984F-8143-6813C441F2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43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0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82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5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5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5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7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5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779-C805-6945-AE4C-C345E022399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6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441" y="223195"/>
            <a:ext cx="5964404" cy="332796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286000" y="5503333"/>
            <a:ext cx="9906000" cy="0"/>
          </a:xfrm>
          <a:prstGeom prst="line">
            <a:avLst/>
          </a:prstGeom>
          <a:ln>
            <a:solidFill>
              <a:srgbClr val="41566D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66991" y="5503333"/>
            <a:ext cx="1419009" cy="0"/>
          </a:xfrm>
          <a:prstGeom prst="line">
            <a:avLst/>
          </a:prstGeom>
          <a:ln>
            <a:solidFill>
              <a:srgbClr val="84C4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093CC72-9296-4BF6-B299-DD4800C1E0EA}"/>
              </a:ext>
            </a:extLst>
          </p:cNvPr>
          <p:cNvSpPr/>
          <p:nvPr/>
        </p:nvSpPr>
        <p:spPr>
          <a:xfrm>
            <a:off x="5803845" y="472026"/>
            <a:ext cx="6096000" cy="21618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ro-RO" sz="3200" b="1" dirty="0">
                <a:solidFill>
                  <a:srgbClr val="84C44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Dezvoltarea unui vehicul cu conducere asistată de inteligența artificială utilizând platforma Raspberry Pi </a:t>
            </a:r>
            <a:endParaRPr lang="en-US" sz="2800" dirty="0">
              <a:solidFill>
                <a:srgbClr val="84C441"/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56351-AE49-4E5D-AD1E-6DAA852181FF}"/>
              </a:ext>
            </a:extLst>
          </p:cNvPr>
          <p:cNvSpPr/>
          <p:nvPr/>
        </p:nvSpPr>
        <p:spPr>
          <a:xfrm>
            <a:off x="7022430" y="2906729"/>
            <a:ext cx="45733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600" dirty="0">
                <a:solidFill>
                  <a:srgbClr val="41566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Cuță Alexandru-Nicolae</a:t>
            </a:r>
            <a:endParaRPr lang="en-US" sz="1600" dirty="0">
              <a:solidFill>
                <a:srgbClr val="41566D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A1C813-7264-4E34-BA20-1A576F787FBA}"/>
              </a:ext>
            </a:extLst>
          </p:cNvPr>
          <p:cNvSpPr/>
          <p:nvPr/>
        </p:nvSpPr>
        <p:spPr>
          <a:xfrm>
            <a:off x="7022430" y="4327191"/>
            <a:ext cx="45733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6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Coordonator stiintific: sl. dr. ing. [Coordonator]</a:t>
            </a:r>
            <a:endParaRPr lang="en-US" sz="1600" dirty="0">
              <a:solidFill>
                <a:srgbClr val="41566D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DBAA6-15CD-96DC-2D75-6B0B653B0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09" y="5690861"/>
            <a:ext cx="4828247" cy="79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Cuprins</a:t>
            </a:r>
          </a:p>
        </p:txBody>
      </p:sp>
      <p:sp>
        <p:nvSpPr>
          <p:cNvPr id="2" name="RightBullets"/>
          <p:cNvSpPr/>
          <p:nvPr/>
        </p:nvSpPr>
        <p:spPr>
          <a:xfrm>
            <a:off x="1811666" y="1411112"/>
            <a:ext cx="4100000" cy="4700000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1. Introducere si Motivatie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2. State of the Art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3. Metodologie si Tehnologii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4. Functionalitati Implementate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5. Arhitectura Hardware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6. Arhitectura Software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7. Arhitectura de Comunicatii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8. Detectia Benzilor de Circulatie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9. Detectia Semnelor de Circulatie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10. Behavior Cloning - Antrenare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11. Implementare si Testare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12. Rezultate si Demo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13. Concluzii si Dezvoltari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Introducere si Motivatie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Conducerea autonoma reprezinta una dintre cele mai active directii de cercetare in robotica si transportul modern.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Proiectul propune un sistem complet de navigare autonoma pe un autoturism RC controlat de un Raspberry Pi 4 Model B.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Sistemul integreaza detectia benzilor de circulatie, recunoasterea semnelor rutiere si un model de behavior cloning - toate rulate in timp real pe hardware embedded cu consum redus.</a:t>
            </a:r>
          </a:p>
        </p:txBody>
      </p:sp>
      <p:sp>
        <p:nvSpPr>
          <p:cNvPr id="2" name="RightBullets"/>
          <p:cNvSpPr/>
          <p:nvPr/>
        </p:nvSpPr>
        <p:spPr>
          <a:xfrm>
            <a:off x="7700000" y="1180000"/>
            <a:ext cx="4100000" cy="4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Motivatie: reducerea accidentelor rutiere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Obiectiv 1: detectie benzi robusta cu OpenCV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Obiectiv 2: recunoastere semne cu MobileNetV2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Obiectiv 3: navigare autonoma prin PilotNet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Obiectiv 4: interfata web de monitorizare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Platform: RPi4 4GB, camera Pi NoIR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State of the Art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Sistemele de conducere autonoma moderne (SAE Level 3-5) folosesc LIDAR, camere stereo, GPS de inalta precizie si retele neuronale adanci.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DAVE-2 (NVIDIA, 2016): prima retea end-to-end pentru steering control pe date de camera frontala. PilotNet extinde DAVE-2 la clasificare pe 3 clase, potrivita pentru sisteme embedded.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GTSRB (German Traffic Sign Recognition Benchmark): standard academic cu 51.839 imagini, 43 clase - baza pentru MobileNetV2 utilizat in proiect.</a:t>
            </a:r>
          </a:p>
        </p:txBody>
      </p:sp>
      <p:sp>
        <p:nvSpPr>
          <p:cNvPr id="2" name="RightBullets"/>
          <p:cNvSpPr/>
          <p:nvPr/>
        </p:nvSpPr>
        <p:spPr>
          <a:xfrm>
            <a:off x="7700000" y="1180000"/>
            <a:ext cx="4100000" cy="4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Tesla Autopilot: 8 camere + FSD chip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Waymo: LIDAR 360 + HD Maps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OpenPilot (Comma.ai): open-source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DAVE-2 (NVIDIA 2016): CNN steering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PilotNet: clasificare 3 clase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GTSRB: 43 clase semne rutiere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MobileNetV2: eficient pe ARM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TFLite: inferenta edge devices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Metodologie si Tehnologii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Platforma hardware: Raspberry Pi 4 Model B, 4 GB RAM, ARM Cortex-A72 1.5 GHz.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Procesarea imaginilor se realizeaza cu OpenCV 4.x in Python 3.11. Inferenta modelelor ML foloseste TFLite (PilotNet) si ONNX Runtime (MobileNetV2).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Interfata de control web este construita cu Flask + Flask-SocketIO, transmitand streamul video ca MJPEG si comenzile ca evenimente SocketIO.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gRPi4_Slid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000" y="1180000"/>
            <a:ext cx="4100000" cy="4700000"/>
          </a:xfrm>
          <a:prstGeom prst="rect">
            <a:avLst/>
          </a:prstGeom>
        </p:spPr>
      </p:pic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Functionalitati Implementate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Sistemul implementeaza 6 functionalitati principale, integrate intr-o arhitectura modulara bazata pe Flask.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Fiecare modul functioneaza independent si expune API prin evenimente SocketIO sau rute HTTP.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Latenta totala sistem: sub 100 ms per cadru la 10 FPS.</a:t>
            </a:r>
          </a:p>
        </p:txBody>
      </p:sp>
      <p:sp>
        <p:nvSpPr>
          <p:cNvPr id="2" name="RightBullets"/>
          <p:cNvSpPr/>
          <p:nvPr/>
        </p:nvSpPr>
        <p:spPr>
          <a:xfrm>
            <a:off x="7700000" y="1180000"/>
            <a:ext cx="4100000" cy="4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CF-01: Detectie benzi (HSV + warp + histograma)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CF-02: Detectie semne (MobileNetV2 ONNX)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CF-03: Interfata web (Flask + SocketIO)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CF-04: Inregistrare date (10 Hz, labels.csv)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CF-05: Inferenta behavior cloning (TFLite)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CF-06: Control motoare (L298N + PWM)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Arhitectura Hardware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Platforma: Raspberry Pi 4 Model B (4 GB RAM) montat pe sasiu RC 4WD.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Alimentare: 2x baterii Li-Ion 18650 (7.4V nominal) cu regulator step-down 5V.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Motoare: 4 motoare DC cu reductor, controlate diferential (stanga/dreapta independente).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Pinout GPIO: IN1=17, IN2=27, IN3=22, IN4=23, ENA=18(PWM), ENB=24(PWM).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gRPi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000" y="1230000"/>
            <a:ext cx="1950000" cy="2200000"/>
          </a:xfrm>
          <a:prstGeom prst="rect">
            <a:avLst/>
          </a:prstGeom>
        </p:spPr>
      </p:pic>
      <p:pic>
        <p:nvPicPr>
          <p:cNvPr id="22" name="ImgL298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000" y="1230000"/>
            <a:ext cx="1950000" cy="2200000"/>
          </a:xfrm>
          <a:prstGeom prst="rect">
            <a:avLst/>
          </a:prstGeom>
        </p:spPr>
      </p:pic>
      <p:pic>
        <p:nvPicPr>
          <p:cNvPr id="23" name="ImgPiC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000" y="3630000"/>
            <a:ext cx="1950000" cy="2200000"/>
          </a:xfrm>
          <a:prstGeom prst="rect">
            <a:avLst/>
          </a:prstGeom>
        </p:spPr>
      </p:pic>
      <p:pic>
        <p:nvPicPr>
          <p:cNvPr id="24" name="ImgBatte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0000" y="3630000"/>
            <a:ext cx="1950000" cy="2200000"/>
          </a:xfrm>
          <a:prstGeom prst="rect">
            <a:avLst/>
          </a:prstGeom>
        </p:spPr>
      </p:pic>
      <p:pic>
        <p:nvPicPr>
          <p:cNvPr id="5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Arhitectura Software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Arhitectura modulara cu app.py ca orchestrator central.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LaneModule: conversie HSV, warp perspectiva (bird's-eye), histograma coloane.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SignModule: wrapper ONNX Runtime pentru MobileNetV2 (43 clase).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MotorModule: PWM diferential cu gpiozero. Formula: stanga = speed - turn, dreapta = speed + turn.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RecordModule: coada asincron (queue.Queue), scriere labels.csv la 10 Hz.</a:t>
            </a:r>
          </a:p>
        </p:txBody>
      </p:sp>
      <p:sp>
        <p:nvSpPr>
          <p:cNvPr id="2" name="RightBullets"/>
          <p:cNvSpPr/>
          <p:nvPr/>
        </p:nvSpPr>
        <p:spPr>
          <a:xfrm>
            <a:off x="7700000" y="1180000"/>
            <a:ext cx="4100000" cy="4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app.py - server Flask principal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lane_detection.py - OpenCV pipeline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sign_detection.py - ONNX inferenta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motor_control.py - gpiozero PWM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record_module.py - queue + CSV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tflite_driver.py - PilotNet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static/ - HTML + JS + CSS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models/ - ONNX + TFLite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Arhitectura de Comunicatii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Comunicatia se desfasoara pe retea WiFi locala (LAN), fara internet.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Streamul video MJPEG: cadre JPEG transmise HTTP ca multipart/x-mixed-replace la ~10 FPS.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SocketIO asigura comunicatia bidirectionala pentru telemetrie si comenzi.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Parametrii de calibrare (WARP_POINTS) sunt transmisi live prin slidere in interfata web.</a:t>
            </a:r>
          </a:p>
        </p:txBody>
      </p:sp>
      <p:sp>
        <p:nvSpPr>
          <p:cNvPr id="2" name="RightBullets"/>
          <p:cNvSpPr/>
          <p:nvPr/>
        </p:nvSpPr>
        <p:spPr>
          <a:xfrm>
            <a:off x="7700000" y="1180000"/>
            <a:ext cx="4100000" cy="4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WiFi LAN - retea locala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HTTP GET /video_feed - stream MJPEG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event 'telemetry' - date live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event 'set_speed' - viteza motor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event 'set_mode' - auto/manual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event 'calibrate' - warp points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event 'keypress' - directie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Latenta LAN: sub 50 ms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Detectia Benzilor de Circulatie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Pipeline: captura frame -&gt; conversie HSV -&gt; mascare culoare alba -&gt; warp perspectiva (bird's-eye) -&gt; histograma coloane -&gt; decizie directie.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Prag HSV pentru benzi albe: H=[0,180], S=[0,45], V=[200,255].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Warp points configurabile: [22, 165, 0, 240] (calibrabile din web).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Histograma: suma pixeli pe coloana in jumatatea inferioara a cadrului. Peak stanga vs dreapta determina directia de viraj.</a:t>
            </a:r>
          </a:p>
        </p:txBody>
      </p:sp>
      <p:sp>
        <p:nvSpPr>
          <p:cNvPr id="2" name="RightBullets"/>
          <p:cNvSpPr/>
          <p:nvPr/>
        </p:nvSpPr>
        <p:spPr>
          <a:xfrm>
            <a:off x="7700000" y="1180000"/>
            <a:ext cx="4100000" cy="4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1. Captura frame 640x480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2. Conversie BGR -&gt; HSV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3. Mascare culoare alba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4. Warp perspectiva bird-eye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5. Histograma coloane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6. Peak stanga vs dreapta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7. Decizie: LEFT/STRAIGHT/RIGHT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Prag offset &gt; 50px = viraj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Detectia Semnelor de Circulatie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Model MobileNetV2 antrenat pe GTSRB (43 clase), exportat in format ONNX.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Rezolutie intrare: 224x224 px, normalizare in [0, 1].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Inferenta ONNX Runtime pe RPi4: aproximativ 40 ms per cadru.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Detectia este activa doar cand confidence &gt; 0.70 pentru a evita falsa pozitive.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gStopSig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000" y="2030000"/>
            <a:ext cx="3000000" cy="3000000"/>
          </a:xfrm>
          <a:prstGeom prst="rect">
            <a:avLst/>
          </a:prstGeom>
        </p:spPr>
      </p:pic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Behavior Cloning - Antrenare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Dataset colectat cu modul de inregistrare: 19.027 cadre la 10 Hz, cu etichete (filename, timestamp, speed, turn).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Echilibrare clase: 25% din cadrele cu turn=0 pastrate (subsampling clasa majoritara).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Split: 8.557 antrenare / 1.074 validare.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Arhitectura PilotNet: 5 straturi conv + 3 straturi dense, clasificare 3 clase. Export TFLite; inferenta pe RPi4: ~25 ms.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gPilotN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325" y="1330000"/>
            <a:ext cx="3085350" cy="4400000"/>
          </a:xfrm>
          <a:prstGeom prst="rect">
            <a:avLst/>
          </a:prstGeom>
        </p:spPr>
      </p:pic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Implementare si Testare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Testare pe pista de test inchisa cu curbe la stanga, la dreapta si portiuni drepte.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Mod manual: operatorul comanda directia prin tastatura; sistemul aplica PWM.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Mod autonom lane: detectia benzilor controleaza motoarele automat.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Mod autonom ML: TFLite ruleaza PilotNet la fiecare cadru, clasificand directia.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Parametri: BASE_SPEED=0.65, BASE_TURN=1.0.</a:t>
            </a:r>
          </a:p>
        </p:txBody>
      </p:sp>
      <p:sp>
        <p:nvSpPr>
          <p:cNvPr id="2" name="RightBullets"/>
          <p:cNvSpPr/>
          <p:nvPr/>
        </p:nvSpPr>
        <p:spPr>
          <a:xfrm>
            <a:off x="7700000" y="1180000"/>
            <a:ext cx="4100000" cy="4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Scenariu 1: navigare manuala + HUD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Scenariu 2: colectare date 10 Hz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Scenariu 3: antrenare PilotNet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Scenariu 4: mod autonom lane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Scenariu 5: mod autonom ML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Test: 10 ture complete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Rezultat: 8/10 ture reuscite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Latenta medie: 87 ms/cadru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Rect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Box"/>
          <p:cNvSpPr txBox="1">
            <a:spLocks noChangeArrowheads="1"/>
          </p:cNvSpPr>
          <p:nvPr/>
        </p:nvSpPr>
        <p:spPr bwMode="auto">
          <a:xfrm>
            <a:off x="932778" y="363174"/>
            <a:ext cx="10800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ro-RO" sz="4000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Concluzii si Dezvoltari Ulterioare</a:t>
            </a:r>
          </a:p>
        </p:txBody>
      </p:sp>
      <p:sp>
        <p:nvSpPr>
          <p:cNvPr id="3" name="LeftContent"/>
          <p:cNvSpPr txBox="1"/>
          <p:nvPr/>
        </p:nvSpPr>
        <p:spPr>
          <a:xfrm>
            <a:off x="932778" y="1180000"/>
            <a:ext cx="6550000" cy="4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Proiectul demonstreaza un sistem complet de masina autonoma RC pe hardware low-cost (sub 150 EUR).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Detectia benzilor si a semnelor functioneaza in timp real pe Raspberry Pi 4.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Behavior cloning cu PilotNet obtine 80% rata de succes pe pista de test.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Sistemul este modular si extensibil pentru cercetare si proiecte viitoare.</a:t>
            </a:r>
          </a:p>
        </p:txBody>
      </p:sp>
      <p:sp>
        <p:nvSpPr>
          <p:cNvPr id="2" name="RightBullets"/>
          <p:cNvSpPr/>
          <p:nvPr/>
        </p:nvSpPr>
        <p:spPr>
          <a:xfrm>
            <a:off x="7700000" y="1180000"/>
            <a:ext cx="4100000" cy="4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Integrare senzori ultrasonici / LIDAR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Model mai complex (EfficientNet-B0)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Dataset extins (&gt; 50.000 cadre)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Control PID pentru viteza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Detectie semne extinsa (&gt; 43 clase)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Navigare GPS pentru exterior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Autentificare interfata web</a:t>
            </a:r>
          </a:p>
          <a:p>
            <a:pPr marL="285750" indent="-285750">
              <a:spcAft>
                <a:spcPts val="900"/>
              </a:spcAft>
              <a:buSzPct val="100000"/>
              <a:buBlip>
                <a:blip r:embed="rId2"/>
              </a:buBlip>
            </a:pPr>
            <a:r>
              <a:rPr lang="ro-RO" sz="18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Port pe NVIDIA Jetson Nano</a:t>
            </a:r>
          </a:p>
        </p:txBody>
      </p:sp>
      <p:sp>
        <p:nvSpPr>
          <p:cNvPr id="7" name="AccentBar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oot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0"/>
            <a:ext cx="94183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918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415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Mulțum</a:t>
            </a:r>
            <a:r>
              <a:rPr lang="ro-RO" sz="4800" b="1" dirty="0">
                <a:solidFill>
                  <a:srgbClr val="415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</a:t>
            </a:r>
            <a:r>
              <a:rPr lang="en-US" sz="4800" b="1" dirty="0">
                <a:solidFill>
                  <a:srgbClr val="415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4114800" y="4434840"/>
            <a:ext cx="3959352" cy="54864"/>
          </a:xfrm>
          <a:prstGeom prst="rect">
            <a:avLst/>
          </a:prstGeom>
          <a:solidFill>
            <a:srgbClr val="84C441"/>
          </a:solidFill>
          <a:ln w="12700">
            <a:solidFill>
              <a:srgbClr val="84C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5971032"/>
            <a:ext cx="4206240" cy="704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2768</TotalTime>
  <Words>1325</Words>
  <Application>Microsoft Office PowerPoint</Application>
  <PresentationFormat>Widescreen</PresentationFormat>
  <Paragraphs>138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Cuta, Alexandru-Nicolae</cp:lastModifiedBy>
  <cp:revision>305</cp:revision>
  <dcterms:created xsi:type="dcterms:W3CDTF">2016-09-21T11:49:38Z</dcterms:created>
  <dcterms:modified xsi:type="dcterms:W3CDTF">2026-04-28T01:11:31Z</dcterms:modified>
</cp:coreProperties>
</file>